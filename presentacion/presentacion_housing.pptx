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(10 s): saludo y presentación del equipo. Reparto: 1 problema/EDA/datos; 2 modelos supervisados y métricas; 3 segmentos y recomendaciones. Total planificado 9:30 min, con margen para no pasar 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(1:25). Escenario: inmobiliaria que necesita una primera estimación del precio. Es un escenario propuesto por el equipo, no una empresa real, y no reemplaza una tasación. Datos: Ames, Iowa, 2.930 viviendas, 82 columnas. KPIs: cobertura ±10 % (meta 70 %) y mejora del MAE frente a predecir la mediana (meta 15 %). Las metas se fijaron antes de entrenar y no se cambiaron. Objetivo: comparar dos modelos de regresión y analizar segmentos.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(1:25). Hallazgos del EDA: el precio es asimétrico (media 180.796, mediana 160.000); la superficie habitable correlaciona 0,707 con el precio; la mediana pasa de 133.000 con calidad 5 a 264.530 con calidad 8; las medianas por barrio van de 88.250 a 319.000; el año de construcción correlaciona 0,558. Son asociaciones, no causas. Preparación: split 80/20 con semilla 42, imputación con mediana o 'Desconocido', one-hot y estandarización ajustados solo con entrenamiento para evitar fuga de datos. El año de garaje 2207 se trató como ausente y no se eliminaron valores extremos. Aclarar que el EDA usó el dataset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(1:30). Elegimos dos familias distintas para que la comparación aporte información. Ridge: baseline lineal e interpretable, con log del precio porque el precio es asimétrico; las métricas siguen en USD. Boosting: ensamble de árboles que captura no linealidades e interacciones. Ajuste con GridSearchCV y MAE como criterio, 5 particiones; Ridge 7 valores de alpha, Boosting 36 combinaciones. Todo dentro de un Pipeline para evitar fuga. Excluimos Sale Type y Sale Condition porque solo se conocen al cerrar la venta. El conjunto de prueba se usó una sola vez. Limitación: sin validación cruzada anidada.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(1:40). Modelo seleccionado: Boosting ajustado, por menor MAE en validación cruzada (14.635 USD). En prueba: MAE 15.350, RMSE 27.285, R² 0,907, cobertura 74,7 %. Cumple las dos metas: cobertura sobre 70 % y mejora del MAE de 76,0 % sobre 15 %. Honestidad: Ridge tiene un MAE de prueba algo menor (14.940) y cobertura 75,1 %; las diferencias de MAE y cobertura son pequeñas, Boosting comete menos errores grandes (RMSE y R²). La mejora de 76 % es frente a una referencia muy simple. La cobertura de 74,7 % tiene una incertidumbre de ±3,5 puntos. El modelo es más débil en viviendas de hasta 129.000 USD (cobertura 63,3 %).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(1:30). Segmentamos con las características de la vivienda, sin usar el precio, y excluimos Sale Type y Sale Condition. PCA a 31 componentes (80,1 % de la varianza) porque hay 323 columnas casi todas one-hot. K-Means: probamos k de 2 a 10 con codo, silhouette, Davies-Bouldin y estabilidad bootstrap; elegimos k = 5 porque es máximo local de silhouette y separa un grupo de dúplex. Ward como contraste: ARI 0,595. Advertencia honesta: el silhouette es 0,118, bajo; los segmentos son una partición útil, no grupos naturales. Nombres por características de la vivienda, no por barrio, para no estigmatizar.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(1:10). Evaluamos el modelo ganador por segmento solo con las 586 viviendas de prueba; el total reproduce 15.350 USD y 74,7 %. La cobertura va de 69,6 % en S2 a 81,0 % en S5; solo S5 tiene el intervalo completo sobre 70 %. S2 está 0,4 puntos bajo la meta pero es estadísticamente indistinguible de 70 %. S4 tiene el mayor error en dólares: 26.177 USD, 1,7 veces el global. S1 tiene solo 26 viviendas de prueba, no concluyente. Recomendaciones: primera estimación con revisión de muestra en S3 y S5; tasador en S2; rango en USD en S4; no usar en dúplex todavía; informar KPIs por segmento. No afirmamos ahorros porque no se midieron.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(0:50). Cierre: el modelo cumple las dos metas globales y los segmentos muestran dónde conviene revisar. Límites: segmentos débiles (silhouette 0,118), muestras pequeñas por segmento, datos de una sola ciudad con ventas de 2006 a 2010, sin validación operacional. No se midieron ahorros ni tiempos. Ética: el desempeño es desigual entre grupos y las viviendas más baratas reciben las estimaciones menos fiables; no se usa para decidir sobre personas; no hubo auditoría formal de equidad. Invitar a preguntas. Todos deben dominar todo el proyecto: repasar presentacion/preguntas_frecuentes.md.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Predicción de precios de viviendas y segmentación de mercado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00"/>
                </a:solidFill>
              </a:rPr>
              <a:t>Machine Learning (MLY1101) · Evaluación Parcial N°2 · Caso B: Ames Iowa Housing</a:t>
            </a:r>
            <a:endParaRPr lang="en-US" sz="1600" dirty="0"/>
          </a:p>
        </p:txBody>
      </p:sp>
      <p:sp>
        <p:nvSpPr>
          <p:cNvPr id="4" name="pres0"/>
          <p:cNvSpPr/>
          <p:nvPr/>
        </p:nvSpPr>
        <p:spPr>
          <a:xfrm>
            <a:off x="640080" y="3291840"/>
            <a:ext cx="24688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Integrante 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Problema, EDA y datos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≈ 2:50 min</a:t>
            </a:r>
            <a:endParaRPr lang="en-US" sz="1400" dirty="0"/>
          </a:p>
        </p:txBody>
      </p:sp>
      <p:sp>
        <p:nvSpPr>
          <p:cNvPr id="6" name="pres1"/>
          <p:cNvSpPr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Integrante 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Modelos supervisados y métricas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≈ 3:10 min</a:t>
            </a:r>
            <a:endParaRPr lang="en-US" sz="1400" dirty="0"/>
          </a:p>
        </p:txBody>
      </p:sp>
      <p:sp>
        <p:nvSpPr>
          <p:cNvPr id="8" name="pres2"/>
          <p:cNvSpPr/>
          <p:nvPr/>
        </p:nvSpPr>
        <p:spPr>
          <a:xfrm>
            <a:off x="6035040" y="3291840"/>
            <a:ext cx="24688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Integrante 3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Segmentos y recomendaciones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</a:rPr>
              <a:t>≈ 3:30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Problema de negocio, KPIs y objetivos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1:25 min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4023360" cy="141732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7043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Problema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Estimar el precio de venta de una vivienda a partir de sus características, como apoyo a la valoración. No reemplaza una tasación profesional.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651760"/>
            <a:ext cx="4023360" cy="141732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457200" y="2651760"/>
            <a:ext cx="64008" cy="1417320"/>
          </a:xfrm>
          <a:prstGeom prst="rect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72491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Objetivo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Comparar al menos dos modelos de regresión, segmentar las viviendas y traducir los resultados en recomendaciones de negocio.</a:t>
            </a:r>
            <a:endParaRPr lang="en-US" sz="1400" dirty="0"/>
          </a:p>
        </p:txBody>
      </p:sp>
      <p:sp>
        <p:nvSpPr>
          <p:cNvPr id="12" name="kpi0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</a:rPr>
              <a:t>≥ 70 %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1188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Cobertura ±10 %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Viviendas estimadas con error de hasta 10 %</a:t>
            </a:r>
            <a:endParaRPr lang="en-US" sz="1500" dirty="0"/>
          </a:p>
        </p:txBody>
      </p:sp>
      <p:sp>
        <p:nvSpPr>
          <p:cNvPr id="15" name="kpi1"/>
          <p:cNvSpPr/>
          <p:nvPr/>
        </p:nvSpPr>
        <p:spPr>
          <a:xfrm>
            <a:off x="4754880" y="2606040"/>
            <a:ext cx="3931920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26974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</a:rPr>
              <a:t>≥ 15 %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26974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Mejora del MAE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Reducción frente a predecir siempre la mediana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</a:rPr>
              <a:t>Datos: Ames Iowa Housing · 2.930 viviendas · 82 columnas · objetivo SalePrice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Exploración y preparación de los datos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1:25 min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57200" y="1051560"/>
            <a:ext cx="4206240" cy="1828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1051560"/>
            <a:ext cx="64008" cy="18288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24712"/>
            <a:ext cx="39319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Qué encontramos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Precio asimétrico: media 180.796, mediana 160.000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Superficie habitable y precio: r = 0,707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Mediana 133.000 (calidad 5) a 264.530 (calidad 8)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Medianas por barrio: 88.250 a 319.000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3017520"/>
            <a:ext cx="4206240" cy="1691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90672"/>
            <a:ext cx="39319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Cómo lo preparamos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Split 80/20, random_state = 42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Imputar con mediana o «Desconocido»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One-hot y escalado ajustados solo con entrenamiento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Sin eliminar valores extremos</a:t>
            </a:r>
            <a:endParaRPr lang="en-US" sz="1400" dirty="0"/>
          </a:p>
        </p:txBody>
      </p:sp>
      <p:pic>
        <p:nvPicPr>
          <p:cNvPr id="12" name="Image 0" descr="eda_calidad_pre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33137"/>
            <a:ext cx="3931920" cy="2128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4632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93"/>
                </a:solidFill>
              </a:rPr>
              <a:t>Asociaciones, no efectos causales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Modelos supervisados: dos familias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E8B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2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1:30 min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57200" y="1051560"/>
            <a:ext cx="4023360" cy="2148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1051560"/>
            <a:ext cx="64008" cy="21488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24712"/>
            <a:ext cx="37490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Ridge (baseline lineal)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Regresión lineal con penalización L2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Objetivo en log1p(SalePrice)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Interpretable y estable con variables correlacionadas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alpha = 1 (7 valores probados)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051560"/>
            <a:ext cx="4023360" cy="2148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4663440" y="1051560"/>
            <a:ext cx="64008" cy="2148840"/>
          </a:xfrm>
          <a:prstGeom prst="rect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124712"/>
            <a:ext cx="37490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Gradient boosting (ensamble)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Árboles en secuencia: cada uno corrige al anterior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Captura no linealidades e interacciones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36 combinaciones probadas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lr 0,03 · 400 árboles · L2 = 1</a:t>
            </a:r>
            <a:endParaRPr lang="en-US" sz="1400" dirty="0"/>
          </a:p>
        </p:txBody>
      </p:sp>
      <p:sp>
        <p:nvSpPr>
          <p:cNvPr id="12" name="valid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456432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2A900"/>
                </a:solidFill>
              </a:rPr>
              <a:t>Validación sin trampas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Pipeline: el preprocesamiento se reajusta en cada partición (sin fuga de datos)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Validación cruzada de 5 particiones; el modelo se elige por MAE en CV, sin mirar la prueba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Se excluyen Sale Type y Sale Condition: solo se conocen al cerrar la venta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Resultados y métricas (conjunto de prueba)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E8B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2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1:40 min</a:t>
            </a:r>
            <a:endParaRPr lang="en-US" sz="1100" dirty="0"/>
          </a:p>
        </p:txBody>
      </p:sp>
      <p:graphicFrame>
        <p:nvGraphicFramePr>
          <p:cNvPr id="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371600"/>
                <a:gridCol w="9144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(USD)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(USD)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Cobertura ±10 %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Referencia (mediana)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63.838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94.323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-0,110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18,6 %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Ridge ajustado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14.940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32.246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0,870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75,1 %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Boosting 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15.624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27.027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0,909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74,2 %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Boosting ajustado (elegido)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15.350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27.285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0,907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74,7 %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cardbar"/>
          <p:cNvSpPr/>
          <p:nvPr/>
        </p:nvSpPr>
        <p:spPr>
          <a:xfrm>
            <a:off x="457200" y="3108960"/>
            <a:ext cx="64008" cy="1554480"/>
          </a:xfrm>
          <a:prstGeom prst="rect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182112"/>
            <a:ext cx="23774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Metas cumplidas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Cobertura 74,7 % (meta ≥ 70 %). Mejora del MAE 76,0 % (meta ≥ 15 %).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3108960"/>
            <a:ext cx="2651760" cy="15544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cardbar"/>
          <p:cNvSpPr/>
          <p:nvPr/>
        </p:nvSpPr>
        <p:spPr>
          <a:xfrm>
            <a:off x="3246120" y="3108960"/>
            <a:ext cx="64008" cy="15544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29000" y="3182112"/>
            <a:ext cx="23774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Lectura honesta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Ridge y Boosting rinden parecido en MAE. Boosting comete menos errores grandes (RMSE, R²).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cardbar"/>
          <p:cNvSpPr/>
          <p:nvPr/>
        </p:nvSpPr>
        <p:spPr>
          <a:xfrm>
            <a:off x="6035040" y="3108960"/>
            <a:ext cx="64008" cy="1554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3182112"/>
            <a:ext cx="23774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Punto débil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Viviendas hasta 129.000 USD: cobertura de 63,3 %, bajo la meta.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Aprendizaje no supervisado: 5 segmentos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8E6B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1:30 min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57200" y="1051560"/>
            <a:ext cx="356616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8E6BB0"/>
          </a:solidFill>
          <a:ln w="12700">
            <a:solidFill>
              <a:srgbClr val="8E6B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24712"/>
            <a:ext cx="3291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Método y decisiones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PCA: 31 componentes, 80,1 % de la varianza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K-Means, k = 5 (codo, silhouette, Davies-Bouldin y estabilidad)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Contraste con Ward: ARI = 0,595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Silhouette 0,118: partición útil, no grupos naturales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El precio no se usó para formar los segmentos</a:t>
            </a:r>
            <a:endParaRPr lang="en-US" sz="1400" dirty="0"/>
          </a:p>
        </p:txBody>
      </p:sp>
      <p:graphicFrame>
        <p:nvGraphicFramePr>
          <p:cNvPr id="7" name="segm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051560"/>
          <a:ext cx="4480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Viviendas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Precio mediano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S1 Dúplex y multifamiliares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118 (4 %)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129.250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S2 Antiguas y compactas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692 (24 %)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117.800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S3 Un piso medio, años 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866 (30 %)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143.350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S4 Un piso reciente, mayor calidad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580 (20 %)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230.174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S5 Dos pisos amplias, recientes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674 (23 %)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212.000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206240" y="3520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</a:rPr>
              <a:t>Nombres por características de la edificación, no por barrio, para evitar estigmatizar zonas.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Desempeño por segmento y recomendaciones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8E6B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1:10 min</a:t>
            </a:r>
            <a:endParaRPr lang="en-US" sz="1100" dirty="0"/>
          </a:p>
        </p:txBody>
      </p:sp>
      <p:pic>
        <p:nvPicPr>
          <p:cNvPr id="6" name="Image 0" descr="segmentos_error_mod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15184"/>
            <a:ext cx="4846320" cy="1667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93"/>
                </a:solidFill>
              </a:rPr>
              <a:t>Barras: cobertura ±10 % con intervalo de confianza 95 % (n por segmento entre 26 y 151).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457200" y="3794760"/>
            <a:ext cx="475488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cardbar"/>
          <p:cNvSpPr/>
          <p:nvPr/>
        </p:nvSpPr>
        <p:spPr>
          <a:xfrm>
            <a:off x="457200" y="3794760"/>
            <a:ext cx="64008" cy="8686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3867912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Lo que dicen los números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Cobertura de 69,6 % (S2) a 81,0 % (S5). S4: MAE de 26.177 USD, 1,7 veces el global.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394960" y="1051560"/>
            <a:ext cx="329184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cardbar"/>
          <p:cNvSpPr/>
          <p:nvPr/>
        </p:nvSpPr>
        <p:spPr>
          <a:xfrm>
            <a:off x="5394960" y="1051560"/>
            <a:ext cx="64008" cy="36118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77840" y="1124712"/>
            <a:ext cx="301752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Recomendaciones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S3 y S5: primera estimación con revisión de muestra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S2: revisión de un tasador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S4: comunicar un rango en USD (± 26.000)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S1 (dúplex): no usar hasta tener más datos (26 casos de prueba)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Informar los KPIs por segmento, no solo el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Conclusiones, límites y uso responsable</a:t>
            </a:r>
            <a:endParaRPr lang="en-US" sz="2600" dirty="0"/>
          </a:p>
        </p:txBody>
      </p:sp>
      <p:sp>
        <p:nvSpPr>
          <p:cNvPr id="3" name="chip"/>
          <p:cNvSpPr/>
          <p:nvPr/>
        </p:nvSpPr>
        <p:spPr>
          <a:xfrm>
            <a:off x="7315200" y="3657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8E6B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≈ 0:50 min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57200" y="1051560"/>
            <a:ext cx="265176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1051560"/>
            <a:ext cx="64008" cy="3108960"/>
          </a:xfrm>
          <a:prstGeom prst="rect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24712"/>
            <a:ext cx="23774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Qué logramos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Dos modelos comparados y justificados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Metas cumplidas: 74,7 % y 76,0 %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Cinco segmentos y recomendaciones por segmento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46120" y="1051560"/>
            <a:ext cx="265176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3246120" y="1051560"/>
            <a:ext cx="64008" cy="31089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124712"/>
            <a:ext cx="23774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Límites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Segmentos débiles (silhouette 0,118)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Pocas viviendas por segmento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Una ciudad, ventas 2006–2010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Sin validación operacional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035040" y="1051560"/>
            <a:ext cx="265176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cardbar"/>
          <p:cNvSpPr/>
          <p:nvPr/>
        </p:nvSpPr>
        <p:spPr>
          <a:xfrm>
            <a:off x="6035040" y="1051560"/>
            <a:ext cx="64008" cy="31089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124712"/>
            <a:ext cx="23774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Uso responsable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Apoyo a la valoración, no tasación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S2 recibe las estimaciones menos fiables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No usar para decidir sobre personas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Sin auditoría formal de equidad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Repositorio: github.com/gpatrick20/Proyecto_ML_housing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using ML">
  <a:themeElements>
    <a:clrScheme name="Housing ML">
      <a:dk1>
        <a:srgbClr val="1B2A3A"/>
      </a:dk1>
      <a:lt1>
        <a:srgbClr val="FFFFFF"/>
      </a:lt1>
      <a:dk2>
        <a:srgbClr val="1F3A5F"/>
      </a:dk2>
      <a:lt2>
        <a:srgbClr val="F3F5F8"/>
      </a:lt2>
      <a:accent1>
        <a:srgbClr val="1F3A5F"/>
      </a:accent1>
      <a:accent2>
        <a:srgbClr val="F2A900"/>
      </a:accent2>
      <a:accent3>
        <a:srgbClr val="2E8B6E"/>
      </a:accent3>
      <a:accent4>
        <a:srgbClr val="C0504D"/>
      </a:accent4>
      <a:accent5>
        <a:srgbClr val="6B7C93"/>
      </a:accent5>
      <a:accent6>
        <a:srgbClr val="8E6BB0"/>
      </a:accent6>
      <a:hlink>
        <a:srgbClr val="1F3A5F"/>
      </a:hlink>
      <a:folHlink>
        <a:srgbClr val="6B7C93"/>
      </a:folHlink>
    </a:clrScheme>
    <a:fontScheme name="Housing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2026-10-25T05:25:58Z</dcterms:created>
  <dcterms:modified xsi:type="dcterms:W3CDTF">2026-10-25T05:25:58Z</dcterms:modified>
</cp:coreProperties>
</file>